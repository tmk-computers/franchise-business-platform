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36C0A"/>
                </a:solidFill>
              </a:defRPr>
            </a:pPr>
            <a:r>
              <a:t>TMK IT SOLUTIONS LLP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Software Franchise Partnership</a:t>
            </a:r>
          </a:p>
          <a:p>
            <a:pPr>
              <a:defRPr sz="1800">
                <a:solidFill>
                  <a:srgbClr val="D2E1F5"/>
                </a:solidFill>
              </a:defRPr>
            </a:pPr>
            <a:r>
              <a:t>High-Margin B2B Software Business Opportunity | FOFO Model | India Expansion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The Market Opportunity: Digital Transformation in Bharat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1. Rapid Digitization: Over 1.5 million schools, 63 million MSMEs, and thousands of real estate properties across India are migrating from pen-and-paper to digital systems.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2. The Local Trust Deficit: Centralized SaaS giants fail in Tier-2, Tier-3, and rural talukas because local institutions demand face-to-face demonstrations, local language support, and in-person relationship trust.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3. The Franchise Advantage: Combining institutional-grade software engineering with local entrepreneurial sales presence captures market share faster than direct sales teams.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4. High Recurring Value: Software is mission-critical. Once a school or business adopts an ERP, annual renewal rates exceed 85%, compounding franchise earnings year after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Comprehensive Software Portfolio Across 6 Verticals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1. School / College ERP</a:t>
            </a:r>
          </a:p>
          <a:p>
            <a:pPr>
              <a:defRPr sz="1200">
                <a:solidFill>
                  <a:srgbClr val="262626"/>
                </a:solidFill>
              </a:defRPr>
            </a:pPr>
            <a:r>
              <a:t>Automated student attendance, fees, exams, report cards &amp; parent mobile app. Price: ₹60,000 / yr.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2. Invoicing App + Web</a:t>
            </a:r>
          </a:p>
          <a:p>
            <a:pPr>
              <a:defRPr sz="1200">
                <a:solidFill>
                  <a:srgbClr val="262626"/>
                </a:solidFill>
              </a:defRPr>
            </a:pPr>
            <a:r>
              <a:t>GST-compliant invoicing, inventory, payment links &amp; accounting for retail &amp; MSMEs. Price: ₹12,000 / yr.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3. OMR Evaluation Software</a:t>
            </a:r>
          </a:p>
          <a:p>
            <a:pPr>
              <a:defRPr sz="1200">
                <a:solidFill>
                  <a:srgbClr val="262626"/>
                </a:solidFill>
              </a:defRPr>
            </a:pPr>
            <a:r>
              <a:t>High-speed optical mark recognition for competitive exams, coaching centers &amp; colleges. Price: ₹25,000 / yr.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4. Property Management ERP</a:t>
            </a:r>
          </a:p>
          <a:p>
            <a:pPr>
              <a:defRPr sz="1200">
                <a:solidFill>
                  <a:srgbClr val="262626"/>
                </a:solidFill>
              </a:defRPr>
            </a:pPr>
            <a:r>
              <a:t>Society maintenance billing, tenant verification, visitor security &amp; asset management. Price: ₹75,000 / yr.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918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5. DevOps Automation Platform</a:t>
            </a:r>
          </a:p>
          <a:p>
            <a:pPr>
              <a:defRPr sz="1200">
                <a:solidFill>
                  <a:srgbClr val="262626"/>
                </a:solidFill>
              </a:defRPr>
            </a:pPr>
            <a:r>
              <a:t>Cloud server deployment, continuous delivery &amp; IT infrastructure orchestration. Price: ₹90,000 / yr.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7548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6. Sales CRM Platform</a:t>
            </a:r>
          </a:p>
          <a:p>
            <a:pPr>
              <a:defRPr sz="1200">
                <a:solidFill>
                  <a:srgbClr val="262626"/>
                </a:solidFill>
              </a:defRPr>
            </a:pPr>
            <a:r>
              <a:t>Lead tracking, WhatsApp messaging integration &amp; field sales performance management. Price: ₹35,000 / yr.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FOFO Operating Model: Clear Separation of Powers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36C0A"/>
                </a:solidFill>
              </a:defRPr>
            </a:pPr>
            <a:r>
              <a:t>FRANCHISE OWNER RESPONSIBILITIES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Establish &amp; operate a local commercial sales office.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Hire &amp; manage at least 1 dedicated salesperson.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Conduct local networking, field marketing &amp; outreach.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Coordinate qualified customer software demonstrations.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Build long-term client trust &amp; lead renewal follow-ups.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97D"/>
                </a:solidFill>
              </a:defRPr>
            </a:pPr>
            <a:r>
              <a:t>FRANCHISOR (TMK) RESPONSIBILITIES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100% Core software development &amp; feature updates.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Cloud hosting, server uptime &amp; data security.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End-to-end software deployment &amp; customer implementation.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Technical demo co-presentation &amp; sales enablement.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Level-2 &amp; Level-3 customer support &amp; bug resolution.</a:t>
            </a:r>
          </a:p>
          <a:p>
            <a:pPr>
              <a:spcAft>
                <a:spcPts val="1000"/>
              </a:spcAft>
              <a:defRPr sz="1400">
                <a:solidFill>
                  <a:srgbClr val="262626"/>
                </a:solidFill>
              </a:defRPr>
            </a:pPr>
            <a:r>
              <a:t>• Central customer billing &amp; commission settlement.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Generous 40:60 Commercial Revenue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40% Franchisee Revenue Share: On every new software license and annual subscription renewal closed within your territory.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60% Franchisor Retained Share: Reinvested into continuous product R&amp;D, central cloud hosting, and technical implementation teams.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Low Break-Even Hurdle: Closing just 1 to 2 software deals per month clears all local office rent and salesperson salaries.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Cash Flow Example (School ERP @ ₹60,000 net):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    - Franchisee Commission: ₹24,000 per closed school contract.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    - Close 3 deals/month = ₹72,000 Gross Commission Income.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    - Monthly Fixed Costs = ₹35,000 (Rent + Salary + Ops).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    - Net Monthly Operating Cash Flow: ₹37,000+ positive EBITDA.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Initial Capital Investment &amp; Setup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• Promotional Joining Fee: ₹25,000 per product (₹1,50,000 for full 6-product territory rights).</a:t>
            </a:r>
          </a:p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• Regular Standard Fee: ₹50,000 per product (post-promotional phase).</a:t>
            </a:r>
          </a:p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• Office Infrastructure &amp; IT Setup: ~₹1,26,000 (Rental deposit, branding, laptops, furniture).</a:t>
            </a:r>
          </a:p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• Working Capital Reserve: ~₹1,40,000 (Mandatory 4-month solvency reserve covering rent &amp; salary).</a:t>
            </a:r>
          </a:p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• Total All-Inclusive Capital Outlay: ~₹3,26,000 to ₹4,16,000.</a:t>
            </a:r>
          </a:p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• Payback Horizon: Capital recovered within 11 months in Base Case scenario.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Taluka-Based Territory Protection &amp; Exclusivity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Clear Administrative Boundaries: Territories are assigned by Taluka/Tehsil or District, avoiding arbitrary radius conflicts.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Protected Deal Registration: Leads logged in the central CRM are locked to the originating franchisee for 90 days.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Wave 1 Priority Markets: Initial rollout focuses on high-density education and commercial talukas across Western and Central India.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Expansion Rights: High-performing Tier-1 franchisees receive first right of refusal for adjacent unoccupied talukas.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Structured 30-Day Onboarding &amp; Launch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Days 1–5: Due diligence, commercial sign-off, territory assignment &amp; CRM credentials provisioning.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Days 6–15: Intensive 10-day Product Certification Bootcamp &amp; Recorded Demo Training.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Days 16–22: Office branding inspection, sales collateral delivery &amp; initial prospect mapping.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Days 23–30: Official territory launch; first 10 joint customer discovery meetings co-led by franchisor demo specialist.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36C0A"/>
                </a:solidFill>
              </a:defRPr>
            </a:pPr>
            <a:r>
              <a:t>FRANCHISE OPPORTUNITY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r>
              <a:t>Three-Year Expansion Vision &amp; Network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Year 1 (Wave 1): 15 Operating Franchise Units across Western India | Focus on School ERP &amp; Invoicing App.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Year 2 (Wave 2): 45 Operating Franchise Units across 4 States | Expansion into Property ERP &amp; CRM.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Year 3 (Wave 3): 100+ Nationwide Operating Units | Regional Area Developers appointed.</a:t>
            </a:r>
          </a:p>
          <a:p>
            <a:pPr>
              <a:spcAft>
                <a:spcPts val="1400"/>
              </a:spcAft>
              <a:defRPr sz="1500">
                <a:solidFill>
                  <a:srgbClr val="262626"/>
                </a:solidFill>
              </a:defRPr>
            </a:pPr>
            <a:r>
              <a:t>• Long-Term Value: Franchisees build an asset-backed recurring cash flow machine through compounded annual renewals.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36C0A"/>
                </a:solidFill>
              </a:defRPr>
            </a:pPr>
            <a:r>
              <a:t>JOIN THE FRANCHISE NETWORK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Secure Your Taluka Territory Today</a:t>
            </a:r>
          </a:p>
          <a:p>
            <a:pPr>
              <a:defRPr sz="1600">
                <a:solidFill>
                  <a:srgbClr val="D2E1F5"/>
                </a:solidFill>
              </a:defRPr>
            </a:pPr>
            <a:r>
              <a:t>Contact TMK Franchise Operations | Web: tmkitsolutions.com | Email: franchise@tmkitsolutions.com</a:t>
            </a:r>
            <a:br/>
            <a:r>
              <a:t>Strictly Confidential — Prepared for Prospective Commercial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